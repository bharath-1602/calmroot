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anose="020F0502020204030204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745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ED28-A953-AD98-C751-225B2B35E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E246C-9E16-B0DC-5A2A-42FE66F20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009A8-ADC0-E495-661F-F75FF6BF7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380E-2B72-3E7F-FB91-CCCD6E8A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2DBCA-6607-A3F5-37D6-F608DE09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8817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45C9-8E3A-2E2B-59FD-B566BDF0A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307A3-262E-0DCC-58B2-0A0A6D50E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8A915-DE01-8293-244F-28BBDC5B1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7D916-0FE5-7E70-AA34-91659A28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1FC9D-6CB3-1023-DCB0-DF125367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1560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5978-F41C-9970-FB61-58D40C09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70EDB-CFB8-540A-FF21-0AE7502AE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FF9F-37AC-0C98-A022-006ED127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42A81-6F61-C29D-F4D7-9E04370C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2350C-1DC1-9BFC-0961-023E1A17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4137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82623-BCC8-2CDA-78ED-EC95E980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7DEF0-78A2-A521-E989-FD3D99150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E1C41-F8C3-BE1E-6992-A33D32D6B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581C5-BE2D-5988-2FA3-A0CB705B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68CAC-7CF2-89B3-4CDB-BE92A195B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CA97-A863-CA12-6FB0-0BA7AE142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4035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628C-8717-A43F-952B-46104649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BC712-0B2F-18AB-5FF2-2BF032D2E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3E6B9-928D-338D-A676-419DB7C87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695C5-46BF-BEF3-C210-78B432EA2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1D75A-A0D1-1AF0-C378-C568D15AF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BBD8B-F0B4-2EDA-701F-83583E7A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607FD-C47A-9EDF-3546-AD77F91A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E9965-98B8-2B49-98AA-EC430BB9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3773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52E7-CB1F-7B75-0C74-70CDB808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25BF7-CF58-0225-ECD3-F8EBAF94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C2B6B-1FE3-3754-0D42-E4A19FD4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6D3C1-F5D5-9DE0-AFCC-B5DDC19F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3021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F59EE-C13A-61C1-C7D1-67004AA1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1834C-AF48-780E-7FD7-2DAF8E1E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1B080-71CB-B343-78B2-82FC521F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2268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DC60-DB9F-5AD2-BEEC-2823648C8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805E6-D7B4-37D7-DCB7-B9C4A583B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D4098-53D0-0407-6D76-44DF65FE0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2C1FD-0899-AF44-3CE9-BEB9895F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71B2-4698-1598-7CF5-8878FBFB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D660A-17EE-D043-0014-CF17FA3D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6910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CE91-F889-7C37-E7FE-9CF41337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9C24F-FC57-63EB-A08A-438DC73C1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AF89E-4F9B-1B19-9BEB-888A25994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A6596-0BC8-7663-7B1A-7D4D98D3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85C67-4B91-8ED1-D445-86AFF9B2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8EEE6-7117-9A36-13D8-3ACA2613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7169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F22F-A451-6B9A-032F-135820B9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8B14C-4C49-417E-190F-47B1DFCEA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84C3-FE4A-C6FA-258D-0CE61372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39865-58F4-3A38-4D6F-E756E7D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5C81D-33B0-A8C4-AEB9-29EEE438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2981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876494-439F-4173-FC0F-DE7202F94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EB9DE-5B14-38CD-D362-4917D6271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CF046-92FD-C9A9-031E-B60485BB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1FEA-2590-70F4-3809-AE428BED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235A1-E90D-0A4D-8CD0-76B76EB8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974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44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A3310B-752F-14BF-1E38-EA9B8007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11B69-EB7F-6EC1-DEF8-6E956C394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9E11-02AD-DF43-B641-88B60B851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21857-7C2E-48A4-AD83-8108DCAE73FD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C6251-1365-34A2-18A9-EF43824DD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FB18E-5672-FA45-84AB-4D7738BAF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9F656-5E0F-45A5-9A1E-2D96EA8BFD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01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00621"/>
            <a:ext cx="2107927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1174" y="843111"/>
            <a:ext cx="239501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DEVOPS &amp; CLOUD ENGINEER · 2025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23727"/>
            <a:ext cx="53481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CalmRoot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496119" y="194771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Production-Grade Mental Health Platform on AWS EKS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496119" y="3046288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"Ground Yourself. Grow Together."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Bharath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DevOps &amp; Cloud Engineer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854276"/>
            <a:ext cx="8151763" cy="17711"/>
          </a:xfrm>
          <a:prstGeom prst="roundRect">
            <a:avLst>
              <a:gd name="adj" fmla="val 120067"/>
            </a:avLst>
          </a:prstGeom>
          <a:solidFill>
            <a:srgbClr val="2C2821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6119" y="4066877"/>
            <a:ext cx="2400002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85936" y="4114130"/>
            <a:ext cx="26775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🌐</a:t>
            </a: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LIVE AT WELLNEST-PROJECT.ONLINE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66963" y="4066877"/>
            <a:ext cx="202912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056781" y="4114130"/>
            <a:ext cx="23066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☸️</a:t>
            </a: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KUBERNETES (EKS) DEPLOYED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66928" y="4066877"/>
            <a:ext cx="233868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56746" y="4114130"/>
            <a:ext cx="26162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🤖</a:t>
            </a: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AI-POWERED BY AMAZON BEDROCK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061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CalmRoot?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3796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Platform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01180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HIPAA-aligned mental health platform connecting users with verified therapists. Built with a React Bento Grid UI featuring dark/light mode.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509168"/>
            <a:ext cx="432777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Wellness Companion 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"Sage"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(Amazon Bedrock — Nova Lite)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Mood tracking &amp; analytics with AI risk scoring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Therapist booking system (50+ verified therapists)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PHQ-9, GAD-7 &amp; PSS assessments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Emergency contact alert system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Stress Buster game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2435" y="1196206"/>
            <a:ext cx="3682231" cy="2971205"/>
          </a:xfrm>
          <a:prstGeom prst="roundRect">
            <a:avLst>
              <a:gd name="adj" fmla="val 716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4193" y="133796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Scale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4193" y="1701180"/>
            <a:ext cx="339871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Microservices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DynamoDB Tables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 S3 Buckets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50+ Verified Therapists (capacity)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HIPAA-aligned security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Zero-downtime deployments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4326880"/>
            <a:ext cx="54344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5936" y="4374133"/>
            <a:ext cx="82101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10407" y="4326880"/>
            <a:ext cx="64264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00224" y="4374133"/>
            <a:ext cx="92020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3889" y="4326880"/>
            <a:ext cx="66436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13706" y="4374133"/>
            <a:ext cx="9419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AWS EKS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59100" y="4326880"/>
            <a:ext cx="86699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48917" y="4374133"/>
            <a:ext cx="11445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TERRAFORM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96940" y="4326880"/>
            <a:ext cx="66035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86758" y="4374133"/>
            <a:ext cx="93791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ARGOCD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28133" y="4326880"/>
            <a:ext cx="83775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17950" y="4374133"/>
            <a:ext cx="111531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DYNAMODB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36728" y="4326880"/>
            <a:ext cx="72070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26546" y="4374133"/>
            <a:ext cx="99826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BEDROCK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28271" y="4326880"/>
            <a:ext cx="96120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18088" y="4374133"/>
            <a:ext cx="123877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CLOUDFRONT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60319" y="4326880"/>
            <a:ext cx="114240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50137" y="4374133"/>
            <a:ext cx="14199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ENVOY GATEWAY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415826"/>
            <a:ext cx="3202781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Cloud Architecture 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7991" y="1972642"/>
            <a:ext cx="15093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Five-Layer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67991" y="2154064"/>
            <a:ext cx="2199977" cy="928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Edge: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Route53 → CloudFront → WAF → ACM SSL</a:t>
            </a:r>
            <a:endParaRPr lang="en-US" sz="650" dirty="0"/>
          </a:p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VPC with public NLB + NAT Gateway; private EKS worker nodes (2× t3.medium)</a:t>
            </a:r>
            <a:endParaRPr lang="en-US" sz="650" dirty="0"/>
          </a:p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Kubernetes: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Envoy Gateway → 4 Service Pods; ArgoCD, ESO, Metrics Server, LB Controller</a:t>
            </a:r>
            <a:endParaRPr lang="en-US" sz="650" dirty="0"/>
          </a:p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AWS Services: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DynamoDB, S3, Bedrock, Secrets Manager, SES, KMS, CloudWatch, SNS, ECR</a:t>
            </a:r>
            <a:endParaRPr lang="en-US" sz="650" dirty="0"/>
          </a:p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CI/CD: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GitHub → Actions → ECR → ArgoCD → EKS</a:t>
            </a: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14" y="809997"/>
            <a:ext cx="3402657" cy="34026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67991" y="4325020"/>
            <a:ext cx="5808018" cy="346472"/>
          </a:xfrm>
          <a:prstGeom prst="roundRect">
            <a:avLst>
              <a:gd name="adj" fmla="val 364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154" y="4430167"/>
            <a:ext cx="105147" cy="84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41463" y="4390951"/>
            <a:ext cx="5450384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traffic encrypted with TLS 1.2+ · Zero secrets in code via External Secrets Operator · GitOps-driven deployments via ArgoCD · IRSA for pod-level AWS permissions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30560"/>
            <a:ext cx="531338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Infrastructure as Code with Terraform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008459"/>
            <a:ext cx="206000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Terraform Manages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1274936"/>
            <a:ext cx="4163169" cy="132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VPC (10.0.0.0/16) + 4 Subnets + 8 VPC Endpoints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EKS Cluster + Node Groups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ECR Repositories · 6 DynamoDB Tables · 3 S3 Buckets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CloudFront Distribution + AWS WAF v2 (OWASP rules)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Route53 Hosted Zone + ACM SSL Certificate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KMS Encryption Key + Secrets Manager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IRSA IAM Roles + CloudWatch Alarms + SNS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74489" y="2681362"/>
            <a:ext cx="46203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126 resources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provisioned across 12 modules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36716" y="918493"/>
            <a:ext cx="3518743" cy="3211339"/>
          </a:xfrm>
          <a:prstGeom prst="roundRect">
            <a:avLst>
              <a:gd name="adj" fmla="val 528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49676" y="1008459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Modular 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49676" y="1286173"/>
            <a:ext cx="3292822" cy="2499122"/>
          </a:xfrm>
          <a:prstGeom prst="roundRect">
            <a:avLst>
              <a:gd name="adj" fmla="val 678"/>
            </a:avLst>
          </a:prstGeom>
          <a:solidFill>
            <a:srgbClr val="286C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44095" y="1286173"/>
            <a:ext cx="3303984" cy="2499122"/>
          </a:xfrm>
          <a:prstGeom prst="roundRect">
            <a:avLst>
              <a:gd name="adj" fmla="val 678"/>
            </a:avLst>
          </a:prstGeom>
          <a:solidFill>
            <a:srgbClr val="286C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85259" y="1399133"/>
            <a:ext cx="3021657" cy="2273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vpc/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eks/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security/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ecr/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dynamodb/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s3/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secrets/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waf/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acm/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route53/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cloudfront/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highlight>
                  <a:srgbClr val="286C4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monitoring/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49676" y="3886498"/>
            <a:ext cx="37500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State: S3 backend + DynamoDB locking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4489" y="4231035"/>
            <a:ext cx="7794947" cy="380702"/>
          </a:xfrm>
          <a:prstGeom prst="roundRect">
            <a:avLst>
              <a:gd name="adj" fmla="val 445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4382839"/>
            <a:ext cx="141163" cy="11296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41574" y="4340200"/>
            <a:ext cx="777210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 </a:t>
            </a:r>
            <a:r>
              <a:rPr lang="en-US" sz="850" dirty="0">
                <a:solidFill>
                  <a:srgbClr val="000000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provisions the entire production infrastructure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394469"/>
            <a:ext cx="55897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Kubernetes Architecture &amp; GitOps with ArgoCD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1911474"/>
            <a:ext cx="16478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EKS Namespaces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85875" y="2124298"/>
            <a:ext cx="3169965" cy="110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calmroot-prod: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Frontend (nginx + React SPA), Auth Service (:3001), Assessment Service (:3002), Therapist Service (:3003), HPA auto-scaling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envoy-gateway-system: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Envoy Gateway Controller + Proxy (L7 routing, CORS, rate limiting)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kube-system: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AWS LB Controller, CoreDNS, Metrics Server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argocd: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ArgoCD Server + Controller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external-secrets: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External Secrets Operator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692923" y="852115"/>
            <a:ext cx="16478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GitOps Flow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923" y="1072902"/>
            <a:ext cx="3169965" cy="31699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5875" y="4386783"/>
            <a:ext cx="6572250" cy="290215"/>
          </a:xfrm>
          <a:prstGeom prst="roundRect">
            <a:avLst>
              <a:gd name="adj" fmla="val 4923"/>
            </a:avLst>
          </a:prstGeom>
          <a:solidFill>
            <a:srgbClr val="C3EE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125" y="4508227"/>
            <a:ext cx="119062" cy="95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5438" y="4468192"/>
            <a:ext cx="66246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 solved:</a:t>
            </a: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Fixed HPA vs ArgoCD replica conflict using </a:t>
            </a:r>
            <a:r>
              <a:rPr lang="en-US" sz="750" dirty="0">
                <a:solidFill>
                  <a:srgbClr val="000000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ignoreDifferences</a:t>
            </a: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configuration in the ArgoCD Application spec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411733"/>
            <a:ext cx="505234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Pipeline — GitHub Actions + ArgoCD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096" y="837381"/>
            <a:ext cx="6361733" cy="2387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31307" y="2552648"/>
            <a:ext cx="959534" cy="36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GitOps Update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322030" y="2645069"/>
            <a:ext cx="959535" cy="18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Approval Gate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119325" y="2645069"/>
            <a:ext cx="959534" cy="18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Build &amp; Push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916620" y="2645069"/>
            <a:ext cx="959535" cy="18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 Scan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687627" y="2645069"/>
            <a:ext cx="959535" cy="184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Code Quality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285875" y="3296543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service triggers on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or manual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workflow_dispatch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Four independent pipelines: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ci-cd-frontend.yml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ci-cd-auth.yml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ci-cd-assessment.yml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and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ci-cd-therapist.yml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285875" y="3687291"/>
            <a:ext cx="17890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Quality &amp; Security Gates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5875" y="3900115"/>
            <a:ext cx="3169965" cy="5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SonarCloud: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Code smells, bugs, coverage — pipeline fails if quality gate not met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Snyk: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Dependency vulnerability scan — high severity = pipeline fails, report generated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692923" y="3687291"/>
            <a:ext cx="16478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Build &amp; Deploy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92923" y="3900115"/>
            <a:ext cx="3169965" cy="809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Docker buildx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(linux/amd64) builds optimized images, pushes to Amazon ECR with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git-sha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+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latest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tags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Approval gate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via GitHub Environments protection on main branch — email sent to team</a:t>
            </a:r>
            <a:endParaRPr lang="en-US" sz="750" dirty="0"/>
          </a:p>
          <a:p>
            <a:pPr marL="342900" indent="-342900" algn="l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GitOps update: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helm/values.yaml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updated with new image tag, </a:t>
            </a:r>
            <a:r>
              <a:rPr lang="en-US" sz="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--rebase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fixes race condition, ArgoCD auto-detects and deploys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1568" y="408384"/>
            <a:ext cx="3220417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 — Defense in Depth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591568" y="1615232"/>
            <a:ext cx="15370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Five Security Layers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591568" y="1802755"/>
            <a:ext cx="2257871" cy="174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Edge: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AWS WAF v2 (OWASP Top 10, IP reputation, rate limiting 2000 req/5min), CloudFront DDoS protection, ACM TLS 1.2+</a:t>
            </a:r>
            <a:endParaRPr lang="en-US" sz="65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VPC private subnets, 8 VPC Endpoints (traffic never leaves AWS), least-privilege Security Groups, NAT Gateway outbound-only</a:t>
            </a:r>
            <a:endParaRPr lang="en-US" sz="65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Identity: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GitHub OIDC (no AWS keys in CI/CD), IRSA pod-level permissions, least-privilege IAM per service role</a:t>
            </a:r>
            <a:endParaRPr lang="en-US" sz="65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KMS encryption at rest, Secrets Manager + ESO runtime injection, DynamoDB PITR, S3 versioning</a:t>
            </a:r>
            <a:endParaRPr lang="en-US" sz="65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Application: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KMS-encrypted JWT tokens, Envoy Gateway CORS policies, per-route rate limiting, liveness + readiness probes</a:t>
            </a: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943" y="816397"/>
            <a:ext cx="3492178" cy="34921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91568" y="4426893"/>
            <a:ext cx="5960864" cy="248989"/>
          </a:xfrm>
          <a:prstGeom prst="roundRect">
            <a:avLst>
              <a:gd name="adj" fmla="val 520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888" y="4535463"/>
            <a:ext cx="107975" cy="86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2183" y="4495800"/>
            <a:ext cx="6051128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Zero secrets hardcoded anywhere in the codebase — all injected at runtime via External Secrets Operator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704"/>
            <a:ext cx="57112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AI-Powered Wellness Intelligence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1905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Chatbot "Sage"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8226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Powered by 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Amazon Bedrock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primary model Nova Lite, fallback Titan Text Express.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163440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Context-aware responses referencing mood history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Crisis detection → iCall hotline referral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Therapist recommendations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Chat history in DynamoDB (rolling 50 msgs)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HIPAA-aligned — all data stays in AWS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219051"/>
            <a:ext cx="22482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Risk Detection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582266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Sentiment scoring (−1 to +1) on every mood log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levels: 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 / MEDIUM / HIGH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3+ consecutive HIGH-risk days → auto-email to emergency contact via 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48-hour cooldown prevents alert spam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Therapist notification triggered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326893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Assessments: PHQ-9 (depression: 0–27), GAD-7 (anxiety: 0–21), PSS (stress)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4009579"/>
            <a:ext cx="8151763" cy="552748"/>
          </a:xfrm>
          <a:prstGeom prst="roundRect">
            <a:avLst>
              <a:gd name="adj" fmla="val 3847"/>
            </a:avLst>
          </a:prstGeom>
          <a:solidFill>
            <a:srgbClr val="C3EE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210348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6816" y="4172545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analyzes every mood log and assessment in real-time to proactively protect users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431974"/>
            <a:ext cx="470088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Technical Challenges Solved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355" y="993279"/>
            <a:ext cx="2649662" cy="1031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6144" y="1124917"/>
            <a:ext cx="208917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ArgoCD vs HPA Replica Conflict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96144" y="1366614"/>
            <a:ext cx="232923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Added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ignoreDifferences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spec.replicas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 ArgoCD Application spec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9914" y="993279"/>
            <a:ext cx="2649736" cy="10317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8702" y="1124917"/>
            <a:ext cx="179248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NLB Stuck in Pending State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428702" y="1366614"/>
            <a:ext cx="232930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Fixed IRSA policy for LB Controller — added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elasticloadbalancing:DescribeTags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wildcard resource permissions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2547" y="993279"/>
            <a:ext cx="2649736" cy="10317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61336" y="1124917"/>
            <a:ext cx="2329309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Global Rate Limiting Caused 500 Errors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161336" y="1550045"/>
            <a:ext cx="232930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Switched to local rate limiting directly in Envoy proxy — no external Redis required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355" y="2122215"/>
            <a:ext cx="2649662" cy="10199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6144" y="2253853"/>
            <a:ext cx="198826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DynamoDB GSI Access Denied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96144" y="2495550"/>
            <a:ext cx="2329235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Added explicit IAM permissions for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index/*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resources alongside table permissions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9914" y="2122215"/>
            <a:ext cx="2649736" cy="10199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28702" y="2253853"/>
            <a:ext cx="209564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Terraform Circular Dependency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3428702" y="2495550"/>
            <a:ext cx="2329309" cy="34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Split Route53 </a:t>
            </a: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↔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ACM </a:t>
            </a: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↔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CloudFront into passes using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try()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2547" y="2122215"/>
            <a:ext cx="2649736" cy="101999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61336" y="2253853"/>
            <a:ext cx="148709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GitOps Race Condition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6161336" y="2495550"/>
            <a:ext cx="232930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Added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--rebase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retry loop across all 4 CI/CD workflows pushing to shared </a:t>
            </a:r>
            <a:r>
              <a:rPr lang="en-US" sz="9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355" y="3239393"/>
            <a:ext cx="2649662" cy="848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6144" y="3371031"/>
            <a:ext cx="157103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EBS CSI Addon Timeout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696144" y="3612728"/>
            <a:ext cx="232923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Removed from Terraform, installed separately post-cluster creation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521643" y="4197028"/>
            <a:ext cx="8100640" cy="405185"/>
          </a:xfrm>
          <a:prstGeom prst="roundRect">
            <a:avLst>
              <a:gd name="adj" fmla="val 4346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94" y="4355306"/>
            <a:ext cx="146745" cy="117351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03089" y="4313783"/>
            <a:ext cx="805904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problem solved = deeper AWS &amp; Kubernetes expertise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933"/>
            <a:ext cx="463391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Results &amp; Complete Tech Stack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09947" y="940073"/>
            <a:ext cx="3257922" cy="2258095"/>
          </a:xfrm>
          <a:prstGeom prst="roundRect">
            <a:avLst>
              <a:gd name="adj" fmla="val 795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29530" y="104097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Was Achieved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9530" y="1328737"/>
            <a:ext cx="3018755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at wellnest-project.online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Zero-downtime deployments (ArgoCD + rolling updates)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 HTTPS with custom domain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chatbot responding in real-time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user registration → therapy booking flow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Mood tracking with AI risk analysis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Emergency alert system active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CloudWatch monitoring operational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78312" y="104097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Numbers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78312" y="1328737"/>
            <a:ext cx="4774257" cy="1022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126 Terraform resources · 12 modules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GitHub Actions pipelines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Kubernetes namespaces · 4 microservices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 DynamoDB tables · 2 AI models (Bedrock)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 production domain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6119" y="3311649"/>
            <a:ext cx="1609353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2616" y="3352279"/>
            <a:ext cx="191355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18 · VITE · TAILWIND CSS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65226" y="3311649"/>
            <a:ext cx="1138238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41724" y="3352279"/>
            <a:ext cx="144244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 · EXPRESS.JS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63218" y="3311649"/>
            <a:ext cx="889992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39716" y="3352279"/>
            <a:ext cx="1194197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DYNAMODB · S3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12965" y="3311649"/>
            <a:ext cx="2016621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462" y="3352279"/>
            <a:ext cx="232082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AMAZON BEDROCK (NOVA LITE + TITAN)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389340" y="3311649"/>
            <a:ext cx="812453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65838" y="3352279"/>
            <a:ext cx="1116657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DOCKER · ECR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261547" y="3311649"/>
            <a:ext cx="1334616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38045" y="3352279"/>
            <a:ext cx="163882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EKS 1.31 · HELM · ARGOCD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96119" y="3593753"/>
            <a:ext cx="965374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72616" y="3634383"/>
            <a:ext cx="126957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ENVOY GATEWAY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21247" y="3593753"/>
            <a:ext cx="1544687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597744" y="3634383"/>
            <a:ext cx="184889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TERRAFORM (126 RESOURCES)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25688" y="3593753"/>
            <a:ext cx="1611957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2186" y="3634383"/>
            <a:ext cx="191616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ACTIONS (5 PIPELINES)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97400" y="3593753"/>
            <a:ext cx="1501304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73898" y="3634383"/>
            <a:ext cx="180550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WAF · KMS · IRSA · ESO · OIDC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58458" y="3593753"/>
            <a:ext cx="1608311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34956" y="3634383"/>
            <a:ext cx="191251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ROUTE53 · CLOUDFRONT · ACM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96119" y="3875856"/>
            <a:ext cx="2159273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72616" y="3916487"/>
            <a:ext cx="246347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CLOUDWATCH · SNS · SONARCLOUD · SNYK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15146" y="3875856"/>
            <a:ext cx="550887" cy="222349"/>
          </a:xfrm>
          <a:prstGeom prst="roundRect">
            <a:avLst>
              <a:gd name="adj" fmla="val 6456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91644" y="3916487"/>
            <a:ext cx="85509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AWS SES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96119" y="4211687"/>
            <a:ext cx="14288" cy="403324"/>
          </a:xfrm>
          <a:prstGeom prst="roundRect">
            <a:avLst>
              <a:gd name="adj" fmla="val 59998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5531" y="4325169"/>
            <a:ext cx="842955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"Built end-to-end: From local Docker Compose to production EKS in a single project sprint"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1227</Words>
  <Application>Microsoft Office PowerPoint</Application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Consolas</vt:lpstr>
      <vt:lpstr>Arial</vt:lpstr>
      <vt:lpstr>Lora</vt:lpstr>
      <vt:lpstr>Alice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Bharath Kakunuri(UST,IN)</cp:lastModifiedBy>
  <cp:revision>2</cp:revision>
  <dcterms:created xsi:type="dcterms:W3CDTF">2026-06-20T03:38:28Z</dcterms:created>
  <dcterms:modified xsi:type="dcterms:W3CDTF">2026-06-30T07:16:55Z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2026-06-30T07:16:55Z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dcb02c7f-fe83-4866-870d-1948ce0810ef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